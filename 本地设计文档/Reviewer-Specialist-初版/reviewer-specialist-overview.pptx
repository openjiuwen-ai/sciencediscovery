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-3-1"/>
          <p:cNvSpPr>
            <a:spLocks noGrp="1"/>
          </p:cNvSpPr>
          <p:nvPr/>
        </p:nvSpPr>
        <p:spPr>
          <a:xfrm>
            <a:off x="393668" y="1738789"/>
            <a:ext cx="9448800" cy="249145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pPr algn="l">
              <a:lnSpc>
                <a:spcPct val="108000"/>
              </a:lnSpc>
              <a:buNone/>
              <a:defRPr sz="60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5400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Reviewer Specialist</a:t>
            </a:r>
            <a:endParaRPr sz="5400" b="1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" name="Subtitle-4-2"/>
          <p:cNvSpPr>
            <a:spLocks noGrp="1"/>
          </p:cNvSpPr>
          <p:nvPr/>
        </p:nvSpPr>
        <p:spPr>
          <a:xfrm>
            <a:off x="393668" y="4973288"/>
            <a:ext cx="3568732" cy="108023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875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面向科研 Artifact 的只读质量审核</a:t>
            </a:r>
            <a:endParaRPr sz="1875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  <a:p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875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引用 · 数值证据 · 来源链路</a:t>
            </a:r>
            <a:endParaRPr sz="1875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  <a:p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875" b="1">
                <a:solidFill>
                  <a:srgbClr val="3D8DF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Quick / Deep</a:t>
            </a:r>
            <a:endParaRPr sz="1875" b="1">
              <a:solidFill>
                <a:srgbClr val="3D8DFF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3" name="Subtitle-4-3"/>
          <p:cNvSpPr>
            <a:spLocks noGrp="1"/>
          </p:cNvSpPr>
          <p:nvPr/>
        </p:nvSpPr>
        <p:spPr>
          <a:xfrm>
            <a:off x="393668" y="392240"/>
            <a:ext cx="1612868" cy="649129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800" b="1">
                <a:solidFill>
                  <a:srgbClr val="3D8DF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ScienceAgent</a:t>
            </a:r>
            <a:endParaRPr sz="1800" b="1">
              <a:solidFill>
                <a:srgbClr val="3D8DFF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Slide-Number-Placeholder-1-2"/>
          <p:cNvSpPr>
            <a:spLocks noGrp="1"/>
          </p:cNvSpPr>
          <p:nvPr/>
        </p:nvSpPr>
        <p:spPr>
          <a:xfrm>
            <a:off x="11279219" y="6278594"/>
            <a:ext cx="519113" cy="241268"/>
          </a:xfrm>
          <a:prstGeom prst="rect">
            <a:avLst/>
          </a:prstGeom>
        </p:spPr>
        <p:txBody>
          <a:bodyPr lIns="0" tIns="0" rIns="0" bIns="0" anchor="b"/>
          <a:lstStyle/>
          <a:p>
            <a:pPr algn="r">
              <a:defRPr sz="10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t>02</a:t>
            </a:r>
          </a:p>
        </p:txBody>
      </p:sp>
      <p:sp>
        <p:nvSpPr>
          <p:cNvPr id="2" name="Title-2-3"/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9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850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从“格式检查”升级为可解释的科研审核闭环</a:t>
            </a:r>
            <a:endParaRPr sz="2850" b="1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3" name="Content-Placeholder-9-4"/>
          <p:cNvSpPr>
            <a:spLocks noGrp="1"/>
          </p:cNvSpPr>
          <p:nvPr/>
        </p:nvSpPr>
        <p:spPr>
          <a:xfrm>
            <a:off x="393668" y="2031968"/>
            <a:ext cx="5537168" cy="1643063"/>
          </a:xfrm>
          <a:prstGeom prst="rect">
            <a:avLst/>
          </a:prstGeom>
        </p:spPr>
        <p:txBody>
          <a:bodyPr lIns="91440" tIns="45720" rIns="91440" bIns="45720"/>
          <a:lstStyle/>
          <a:p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50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Situation｜问题</a:t>
            </a:r>
            <a:endParaRPr sz="1650" b="1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  <a:p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35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报告包含文献、数值和来源；格式检查无法判断它们是否真正对应。</a:t>
            </a:r>
            <a:endParaRPr sz="135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4" name="Content-Placeholder-10-5"/>
          <p:cNvSpPr>
            <a:spLocks noGrp="1"/>
          </p:cNvSpPr>
          <p:nvPr/>
        </p:nvSpPr>
        <p:spPr>
          <a:xfrm>
            <a:off x="6256592" y="2031968"/>
            <a:ext cx="5537168" cy="1643063"/>
          </a:xfrm>
          <a:prstGeom prst="rect">
            <a:avLst/>
          </a:prstGeom>
        </p:spPr>
        <p:txBody>
          <a:bodyPr lIns="91440" tIns="45720" rIns="91440" bIns="45720"/>
          <a:lstStyle/>
          <a:p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50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Task｜目标</a:t>
            </a:r>
            <a:endParaRPr sz="1650" b="1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  <a:p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35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建立可控、可解释的审核层，同时限定范围，不影响正常对话。</a:t>
            </a:r>
            <a:endParaRPr sz="135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5" name="Content-Placeholder-9-6"/>
          <p:cNvSpPr>
            <a:spLocks noGrp="1"/>
          </p:cNvSpPr>
          <p:nvPr/>
        </p:nvSpPr>
        <p:spPr>
          <a:xfrm>
            <a:off x="393668" y="4016978"/>
            <a:ext cx="5537168" cy="1643158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50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Action｜方案</a:t>
            </a:r>
            <a:endParaRPr sz="1650" b="1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  <a:p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35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Quick/Deep 分级审核，稳定标识符精确查证，结果持久化与复用。</a:t>
            </a:r>
            <a:endParaRPr sz="135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6" name="Content-Placeholder-10-7"/>
          <p:cNvSpPr>
            <a:spLocks noGrp="1"/>
          </p:cNvSpPr>
          <p:nvPr/>
        </p:nvSpPr>
        <p:spPr>
          <a:xfrm>
            <a:off x="6256592" y="4016978"/>
            <a:ext cx="5537168" cy="1643158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50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Result｜产出</a:t>
            </a:r>
            <a:endParaRPr sz="1650" b="1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  <a:p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35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从 Artifact 锁定到对话反馈形成闭环，并保留不确定性。</a:t>
            </a:r>
            <a:endParaRPr sz="135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" name="Slide-Number-Placeholder-3-2"/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</p:spPr>
        <p:txBody>
          <a:bodyPr lIns="0" tIns="0" rIns="0" bIns="0" anchor="b"/>
          <a:lstStyle/>
          <a:p>
            <a:pPr algn="r">
              <a:defRPr sz="10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t>03</a:t>
            </a:r>
          </a:p>
        </p:txBody>
      </p:sp>
      <p:sp>
        <p:nvSpPr>
          <p:cNvPr id="2" name="Title-10-3"/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9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850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审核以锁定版本为起点，以可行动反馈为终点</a:t>
            </a:r>
            <a:endParaRPr sz="2850" b="1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cxnSp>
        <p:nvCxnSpPr>
          <p:cNvPr id="18" name="Google-Shape-2259-p159-4"/>
          <p:cNvCxnSpPr/>
          <p:nvPr/>
        </p:nvCxnSpPr>
        <p:spPr>
          <a:xfrm>
            <a:off x="337757" y="5341620"/>
            <a:ext cx="12245435" cy="286"/>
          </a:xfrm>
          <a:prstGeom prst="straightConnector1">
            <a:avLst/>
          </a:prstGeom>
          <a:ln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/>
          <p:cNvSpPr>
            <a:spLocks noGrp="1"/>
          </p:cNvSpPr>
          <p:nvPr/>
        </p:nvSpPr>
        <p:spPr>
          <a:xfrm>
            <a:off x="337757" y="5288089"/>
            <a:ext cx="107061" cy="107061"/>
          </a:xfrm>
          <a:prstGeom prst="ellipse">
            <a:avLst/>
          </a:prstGeom>
          <a:solidFill>
            <a:srgbClr val="000000"/>
          </a:solidFill>
        </p:spPr>
      </p:sp>
      <p:sp>
        <p:nvSpPr>
          <p:cNvPr id="5" name="Google-Shape-2261-p159-6"/>
          <p:cNvSpPr>
            <a:spLocks noGrp="1"/>
          </p:cNvSpPr>
          <p:nvPr/>
        </p:nvSpPr>
        <p:spPr>
          <a:xfrm>
            <a:off x="4251770" y="5288089"/>
            <a:ext cx="107061" cy="107061"/>
          </a:xfrm>
          <a:prstGeom prst="ellipse">
            <a:avLst/>
          </a:prstGeom>
          <a:solidFill>
            <a:srgbClr val="000000"/>
          </a:solidFill>
        </p:spPr>
      </p:sp>
      <p:sp>
        <p:nvSpPr>
          <p:cNvPr id="6" name="Google-Shape-2262-p159-7"/>
          <p:cNvSpPr>
            <a:spLocks noGrp="1"/>
          </p:cNvSpPr>
          <p:nvPr/>
        </p:nvSpPr>
        <p:spPr>
          <a:xfrm>
            <a:off x="8176070" y="5288089"/>
            <a:ext cx="107061" cy="107061"/>
          </a:xfrm>
          <a:prstGeom prst="ellipse">
            <a:avLst/>
          </a:prstGeom>
          <a:solidFill>
            <a:srgbClr val="000000"/>
          </a:solidFill>
        </p:spPr>
      </p:sp>
      <p:sp>
        <p:nvSpPr>
          <p:cNvPr id="7" name="Rounded-Rectangle-19-8"/>
          <p:cNvSpPr>
            <a:spLocks noGrp="1"/>
          </p:cNvSpPr>
          <p:nvPr/>
        </p:nvSpPr>
        <p:spPr>
          <a:xfrm>
            <a:off x="393668" y="1401794"/>
            <a:ext cx="3568732" cy="3619500"/>
          </a:xfrm>
          <a:prstGeom prst="roundRect">
            <a:avLst>
              <a:gd name="adj" fmla="val 2135"/>
            </a:avLst>
          </a:prstGeom>
          <a:solidFill>
            <a:srgbClr val="F2F2F2"/>
          </a:solidFill>
        </p:spPr>
      </p:sp>
      <p:sp>
        <p:nvSpPr>
          <p:cNvPr id="8" name="Content-Placeholder-8-9"/>
          <p:cNvSpPr>
            <a:spLocks noGrp="1"/>
          </p:cNvSpPr>
          <p:nvPr/>
        </p:nvSpPr>
        <p:spPr>
          <a:xfrm>
            <a:off x="703421" y="1806797"/>
            <a:ext cx="2949321" cy="2566797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50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1. 选择目标</a:t>
            </a:r>
            <a:endParaRPr sz="1650" b="1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  <a:p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35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当前 Session 生成 Artifact
锁定版本与内容哈希</a:t>
            </a:r>
            <a:endParaRPr sz="135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9" name="Rounded-Rectangle-21-10"/>
          <p:cNvSpPr>
            <a:spLocks noGrp="1"/>
          </p:cNvSpPr>
          <p:nvPr/>
        </p:nvSpPr>
        <p:spPr>
          <a:xfrm>
            <a:off x="4308443" y="1401794"/>
            <a:ext cx="3568732" cy="3619500"/>
          </a:xfrm>
          <a:prstGeom prst="roundRect">
            <a:avLst>
              <a:gd name="adj" fmla="val 2135"/>
            </a:avLst>
          </a:prstGeom>
          <a:solidFill>
            <a:srgbClr val="F2F2F2"/>
          </a:solidFill>
        </p:spPr>
      </p:sp>
      <p:sp>
        <p:nvSpPr>
          <p:cNvPr id="10" name="Content-Placeholder-8-11"/>
          <p:cNvSpPr>
            <a:spLocks noGrp="1"/>
          </p:cNvSpPr>
          <p:nvPr/>
        </p:nvSpPr>
        <p:spPr>
          <a:xfrm>
            <a:off x="4618196" y="1806797"/>
            <a:ext cx="2949321" cy="2566797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50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2. 分级核验</a:t>
            </a:r>
            <a:endParaRPr sz="1650" b="1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  <a:p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35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Quick 检查结构与链路
Deep 复核引用与数值 Evidence</a:t>
            </a:r>
            <a:endParaRPr sz="135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1" name="Rounded-Rectangle-23-12"/>
          <p:cNvSpPr>
            <a:spLocks noGrp="1"/>
          </p:cNvSpPr>
          <p:nvPr/>
        </p:nvSpPr>
        <p:spPr>
          <a:xfrm>
            <a:off x="8237506" y="1401794"/>
            <a:ext cx="3568732" cy="3619500"/>
          </a:xfrm>
          <a:prstGeom prst="roundRect">
            <a:avLst>
              <a:gd name="adj" fmla="val 2135"/>
            </a:avLst>
          </a:prstGeom>
          <a:solidFill>
            <a:srgbClr val="F2F2F2"/>
          </a:solidFill>
        </p:spPr>
      </p:sp>
      <p:sp>
        <p:nvSpPr>
          <p:cNvPr id="12" name="Content-Placeholder-8-13"/>
          <p:cNvSpPr>
            <a:spLocks noGrp="1"/>
          </p:cNvSpPr>
          <p:nvPr/>
        </p:nvSpPr>
        <p:spPr>
          <a:xfrm>
            <a:off x="8547259" y="1806797"/>
            <a:ext cx="2949321" cy="2566797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50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3. 返回结果</a:t>
            </a:r>
            <a:endParaRPr sz="1650" b="1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  <a:p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35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持久化进度和 findings
向后续对话提供简洁摘要</a:t>
            </a:r>
            <a:endParaRPr sz="135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3" name="Text-Placeholder-16-14"/>
          <p:cNvSpPr>
            <a:spLocks noGrp="1"/>
          </p:cNvSpPr>
          <p:nvPr/>
        </p:nvSpPr>
        <p:spPr>
          <a:xfrm>
            <a:off x="4251770" y="5602414"/>
            <a:ext cx="2595944" cy="391954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/>
          <a:p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50" b="1">
                <a:solidFill>
                  <a:srgbClr val="3D8DF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Review</a:t>
            </a:r>
            <a:endParaRPr sz="1650" b="1">
              <a:solidFill>
                <a:srgbClr val="3D8DFF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4" name="Text-Placeholder-16-15"/>
          <p:cNvSpPr>
            <a:spLocks noGrp="1"/>
          </p:cNvSpPr>
          <p:nvPr/>
        </p:nvSpPr>
        <p:spPr>
          <a:xfrm>
            <a:off x="390906" y="5602414"/>
            <a:ext cx="2595944" cy="391954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/>
          <a:p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50" b="1">
                <a:solidFill>
                  <a:srgbClr val="3D8DF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Artifact</a:t>
            </a:r>
            <a:endParaRPr sz="1650" b="1">
              <a:solidFill>
                <a:srgbClr val="3D8DFF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5" name="Text-Placeholder-16-16"/>
          <p:cNvSpPr>
            <a:spLocks noGrp="1"/>
          </p:cNvSpPr>
          <p:nvPr/>
        </p:nvSpPr>
        <p:spPr>
          <a:xfrm>
            <a:off x="8225409" y="5602414"/>
            <a:ext cx="2595944" cy="391954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/>
          <a:p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50" b="1">
                <a:solidFill>
                  <a:srgbClr val="3D8DF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Feedback</a:t>
            </a:r>
            <a:endParaRPr sz="1650" b="1">
              <a:solidFill>
                <a:srgbClr val="3D8DFF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Google-Shape-532-p58-2"/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</p:spPr>
        <p:txBody>
          <a:bodyPr wrap="square" lIns="0" tIns="0" rIns="0" bIns="0" anchor="b">
            <a:noAutofit/>
          </a:bodyPr>
          <a:lstStyle/>
          <a:p>
            <a:pPr algn="r">
              <a:defRPr sz="10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t>04</a:t>
            </a:r>
          </a:p>
        </p:txBody>
      </p:sp>
      <p:sp>
        <p:nvSpPr>
          <p:cNvPr id="2" name="Google-Shape-533-p58-3"/>
          <p:cNvSpPr>
            <a:spLocks noGrp="1"/>
          </p:cNvSpPr>
          <p:nvPr/>
        </p:nvSpPr>
        <p:spPr>
          <a:xfrm>
            <a:off x="393668" y="344519"/>
            <a:ext cx="11404568" cy="644271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9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850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Quick 负责快速守门，Deep 负责语义核验</a:t>
            </a:r>
            <a:endParaRPr sz="2850" b="1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3" name="Rounded-Rectangle-1-4"/>
          <p:cNvSpPr>
            <a:spLocks noGrp="1"/>
          </p:cNvSpPr>
          <p:nvPr/>
        </p:nvSpPr>
        <p:spPr>
          <a:xfrm>
            <a:off x="397002" y="3339084"/>
            <a:ext cx="5533930" cy="1320832"/>
          </a:xfrm>
          <a:prstGeom prst="roundRect">
            <a:avLst>
              <a:gd name="adj" fmla="val 5769"/>
            </a:avLst>
          </a:prstGeom>
          <a:solidFill>
            <a:srgbClr val="F2F2F2"/>
          </a:solidFill>
        </p:spPr>
      </p:sp>
      <p:sp>
        <p:nvSpPr>
          <p:cNvPr id="4" name="Content-Placeholder-10-5"/>
          <p:cNvSpPr>
            <a:spLocks noGrp="1"/>
          </p:cNvSpPr>
          <p:nvPr/>
        </p:nvSpPr>
        <p:spPr>
          <a:xfrm>
            <a:off x="694277" y="3587972"/>
            <a:ext cx="4986909" cy="87782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250" b="1">
                <a:solidFill>
                  <a:srgbClr val="3D8DF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Quick</a:t>
            </a:r>
            <a:endParaRPr sz="2250" b="1">
              <a:solidFill>
                <a:srgbClr val="3D8DFF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5" name="Content-Placeholder-15-6"/>
          <p:cNvSpPr>
            <a:spLocks noGrp="1"/>
          </p:cNvSpPr>
          <p:nvPr/>
        </p:nvSpPr>
        <p:spPr>
          <a:xfrm>
            <a:off x="694277" y="4828604"/>
            <a:ext cx="5236655" cy="977932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35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结构与引用关联</a:t>
            </a:r>
            <a:endParaRPr sz="135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  <a:p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35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JSON 可解析性</a:t>
            </a:r>
            <a:endParaRPr sz="135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  <a:p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35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来源/图谱链路</a:t>
            </a:r>
            <a:endParaRPr sz="135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6" name="Rounded-Rectangle-7-7"/>
          <p:cNvSpPr>
            <a:spLocks noGrp="1"/>
          </p:cNvSpPr>
          <p:nvPr/>
        </p:nvSpPr>
        <p:spPr>
          <a:xfrm>
            <a:off x="6260783" y="3339084"/>
            <a:ext cx="5533930" cy="1320832"/>
          </a:xfrm>
          <a:prstGeom prst="roundRect">
            <a:avLst>
              <a:gd name="adj" fmla="val 5769"/>
            </a:avLst>
          </a:prstGeom>
          <a:solidFill>
            <a:srgbClr val="F2F2F2"/>
          </a:solidFill>
        </p:spPr>
      </p:sp>
      <p:sp>
        <p:nvSpPr>
          <p:cNvPr id="7" name="Content-Placeholder-10-8"/>
          <p:cNvSpPr>
            <a:spLocks noGrp="1"/>
          </p:cNvSpPr>
          <p:nvPr/>
        </p:nvSpPr>
        <p:spPr>
          <a:xfrm>
            <a:off x="6558058" y="3587972"/>
            <a:ext cx="4986909" cy="87782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250" b="1">
                <a:solidFill>
                  <a:srgbClr val="3D8DF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Deep</a:t>
            </a:r>
            <a:endParaRPr sz="2250" b="1">
              <a:solidFill>
                <a:srgbClr val="3D8DFF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8" name="Content-Placeholder-15-9"/>
          <p:cNvSpPr>
            <a:spLocks noGrp="1"/>
          </p:cNvSpPr>
          <p:nvPr/>
        </p:nvSpPr>
        <p:spPr>
          <a:xfrm>
            <a:off x="6558058" y="4828604"/>
            <a:ext cx="5236655" cy="977932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35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文献身份与支持关系</a:t>
            </a:r>
            <a:endParaRPr sz="135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  <a:p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35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数值 Claim 与 Evidence</a:t>
            </a:r>
            <a:endParaRPr sz="135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  <a:p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35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证据不足则保留不确定性</a:t>
            </a:r>
            <a:endParaRPr sz="135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9" name="Content-Placeholder-15-10"/>
          <p:cNvSpPr>
            <a:spLocks noGrp="1"/>
          </p:cNvSpPr>
          <p:nvPr/>
        </p:nvSpPr>
        <p:spPr>
          <a:xfrm>
            <a:off x="400907" y="1157478"/>
            <a:ext cx="11404568" cy="1629251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50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为什么需要两档</a:t>
            </a:r>
            <a:endParaRPr sz="1650" b="1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  <a:p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5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将轻量、确定性的基础检查与需要外部证据的深度判断拆开，兼顾速度与可靠性。</a:t>
            </a:r>
            <a:endParaRPr sz="15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  <a:p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5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两档共用同一 Artifact 锁定、结果持久化与展示链路。</a:t>
            </a:r>
            <a:endParaRPr sz="15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-3-1"/>
          <p:cNvSpPr>
            <a:spLocks noGrp="1"/>
          </p:cNvSpPr>
          <p:nvPr/>
        </p:nvSpPr>
        <p:spPr>
          <a:xfrm>
            <a:off x="393668" y="1738789"/>
            <a:ext cx="9448800" cy="249145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pPr algn="l">
              <a:lnSpc>
                <a:spcPct val="108000"/>
              </a:lnSpc>
              <a:buNone/>
              <a:defRPr sz="60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4800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先精确识别文献，
再判断它是否支持论述</a:t>
            </a:r>
            <a:endParaRPr sz="4800" b="1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" name="Subtitle-4-2"/>
          <p:cNvSpPr>
            <a:spLocks noGrp="1"/>
          </p:cNvSpPr>
          <p:nvPr/>
        </p:nvSpPr>
        <p:spPr>
          <a:xfrm>
            <a:off x="393668" y="4742212"/>
            <a:ext cx="5702332" cy="108023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5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URL 或完整参考文献 → DOI / PMID / PMCID → 对应 MCP 精确查询 → MCP 不可用时，以 Web Search 按同一标识符验证。作者年份短引文先映射到参考文献小结的完整条目。</a:t>
            </a:r>
            <a:endParaRPr sz="165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3" name="Subtitle-4-3"/>
          <p:cNvSpPr>
            <a:spLocks noGrp="1"/>
          </p:cNvSpPr>
          <p:nvPr/>
        </p:nvSpPr>
        <p:spPr>
          <a:xfrm>
            <a:off x="393668" y="392240"/>
            <a:ext cx="5702332" cy="649129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800" b="1">
                <a:solidFill>
                  <a:srgbClr val="3D8DF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Citation Review</a:t>
            </a:r>
            <a:endParaRPr sz="1800" b="1">
              <a:solidFill>
                <a:srgbClr val="3D8DFF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Google-Shape-532-p58-2"/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</p:spPr>
        <p:txBody>
          <a:bodyPr wrap="square" lIns="0" tIns="0" rIns="0" bIns="0" anchor="b">
            <a:noAutofit/>
          </a:bodyPr>
          <a:lstStyle/>
          <a:p>
            <a:pPr algn="r">
              <a:defRPr sz="10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t>06</a:t>
            </a:r>
          </a:p>
        </p:txBody>
      </p:sp>
      <p:sp>
        <p:nvSpPr>
          <p:cNvPr id="2" name="Google-Shape-533-p58-3"/>
          <p:cNvSpPr>
            <a:spLocks noGrp="1"/>
          </p:cNvSpPr>
          <p:nvPr/>
        </p:nvSpPr>
        <p:spPr>
          <a:xfrm>
            <a:off x="393668" y="344519"/>
            <a:ext cx="11404568" cy="644271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9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850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清晰边界让审核结果更可信</a:t>
            </a:r>
            <a:endParaRPr sz="2850" b="1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3" name="Rounded-Rectangle-1-4"/>
          <p:cNvSpPr>
            <a:spLocks noGrp="1"/>
          </p:cNvSpPr>
          <p:nvPr/>
        </p:nvSpPr>
        <p:spPr>
          <a:xfrm>
            <a:off x="397002" y="3339084"/>
            <a:ext cx="5533930" cy="1320832"/>
          </a:xfrm>
          <a:prstGeom prst="roundRect">
            <a:avLst>
              <a:gd name="adj" fmla="val 5769"/>
            </a:avLst>
          </a:prstGeom>
          <a:solidFill>
            <a:srgbClr val="F2F2F2"/>
          </a:solidFill>
        </p:spPr>
      </p:sp>
      <p:sp>
        <p:nvSpPr>
          <p:cNvPr id="4" name="Content-Placeholder-10-5"/>
          <p:cNvSpPr>
            <a:spLocks noGrp="1"/>
          </p:cNvSpPr>
          <p:nvPr/>
        </p:nvSpPr>
        <p:spPr>
          <a:xfrm>
            <a:off x="694277" y="3587972"/>
            <a:ext cx="4986909" cy="87782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025" b="1">
                <a:solidFill>
                  <a:srgbClr val="3D8DF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叙述型 Markdown</a:t>
            </a:r>
            <a:endParaRPr sz="2025" b="1">
              <a:solidFill>
                <a:srgbClr val="3D8DFF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5" name="Content-Placeholder-15-6"/>
          <p:cNvSpPr>
            <a:spLocks noGrp="1"/>
          </p:cNvSpPr>
          <p:nvPr/>
        </p:nvSpPr>
        <p:spPr>
          <a:xfrm>
            <a:off x="694277" y="4828604"/>
            <a:ext cx="5236655" cy="977932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35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进入引用语义审核</a:t>
            </a:r>
            <a:endParaRPr sz="135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  <a:p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35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进入数值 Evidence 审核</a:t>
            </a:r>
            <a:endParaRPr sz="135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  <a:p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35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输出可行动 findings</a:t>
            </a:r>
            <a:endParaRPr sz="135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6" name="Rounded-Rectangle-7-7"/>
          <p:cNvSpPr>
            <a:spLocks noGrp="1"/>
          </p:cNvSpPr>
          <p:nvPr/>
        </p:nvSpPr>
        <p:spPr>
          <a:xfrm>
            <a:off x="6260783" y="3339084"/>
            <a:ext cx="5533930" cy="1320832"/>
          </a:xfrm>
          <a:prstGeom prst="roundRect">
            <a:avLst>
              <a:gd name="adj" fmla="val 5769"/>
            </a:avLst>
          </a:prstGeom>
          <a:solidFill>
            <a:srgbClr val="F2F2F2"/>
          </a:solidFill>
        </p:spPr>
      </p:sp>
      <p:sp>
        <p:nvSpPr>
          <p:cNvPr id="7" name="Content-Placeholder-10-8"/>
          <p:cNvSpPr>
            <a:spLocks noGrp="1"/>
          </p:cNvSpPr>
          <p:nvPr/>
        </p:nvSpPr>
        <p:spPr>
          <a:xfrm>
            <a:off x="6558058" y="3587972"/>
            <a:ext cx="4986909" cy="87782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800" b="1">
                <a:solidFill>
                  <a:srgbClr val="3D8DF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sources.json 等元数据</a:t>
            </a:r>
            <a:endParaRPr sz="1800" b="1">
              <a:solidFill>
                <a:srgbClr val="3D8DFF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8" name="Content-Placeholder-15-9"/>
          <p:cNvSpPr>
            <a:spLocks noGrp="1"/>
          </p:cNvSpPr>
          <p:nvPr/>
        </p:nvSpPr>
        <p:spPr>
          <a:xfrm>
            <a:off x="6558058" y="4828604"/>
            <a:ext cx="5236655" cy="977932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35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仅 JSON 可解析性</a:t>
            </a:r>
            <a:endParaRPr sz="135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  <a:p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35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仅 Artifact 来源链路</a:t>
            </a:r>
            <a:endParaRPr sz="135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  <a:p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35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不进入语义审核</a:t>
            </a:r>
            <a:endParaRPr sz="135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9" name="Content-Placeholder-15-10"/>
          <p:cNvSpPr>
            <a:spLocks noGrp="1"/>
          </p:cNvSpPr>
          <p:nvPr/>
        </p:nvSpPr>
        <p:spPr>
          <a:xfrm>
            <a:off x="400907" y="1157478"/>
            <a:ext cx="11404568" cy="1629251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50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审核对象</a:t>
            </a:r>
            <a:endParaRPr sz="1650" b="1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  <a:p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5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只审核当前 Session 产生的 Artifact；不扫描项目内其他 Session 的历史产物。</a:t>
            </a:r>
            <a:endParaRPr sz="15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  <a:p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5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审核始终只读，不自动修改报告或来源文件。</a:t>
            </a:r>
            <a:endParaRPr sz="15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-3-1"/>
          <p:cNvSpPr>
            <a:spLocks noGrp="1"/>
          </p:cNvSpPr>
          <p:nvPr/>
        </p:nvSpPr>
        <p:spPr>
          <a:xfrm>
            <a:off x="393668" y="1738789"/>
            <a:ext cx="9448800" cy="249145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pPr algn="l">
              <a:lnSpc>
                <a:spcPct val="108000"/>
              </a:lnSpc>
              <a:buNone/>
              <a:defRPr sz="60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4950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让科研 Agent 的输出
更可验证，也更诚实</a:t>
            </a:r>
            <a:endParaRPr sz="4950" b="1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" name="Subtitle-4-2"/>
          <p:cNvSpPr>
            <a:spLocks noGrp="1"/>
          </p:cNvSpPr>
          <p:nvPr/>
        </p:nvSpPr>
        <p:spPr>
          <a:xfrm>
            <a:off x="393668" y="4973288"/>
            <a:ext cx="3568732" cy="108023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8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通过：给出可行动的审核结果</a:t>
            </a:r>
            <a:endParaRPr sz="18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  <a:p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8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告警：指出需要补充或修订的位置</a:t>
            </a:r>
            <a:endParaRPr sz="1800" b="1">
              <a:solidFill>
                <a:srgbClr val="3D8DFF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3" name="Subtitle-4-3"/>
          <p:cNvSpPr>
            <a:spLocks noGrp="1"/>
          </p:cNvSpPr>
          <p:nvPr/>
        </p:nvSpPr>
        <p:spPr>
          <a:xfrm>
            <a:off x="393668" y="392240"/>
            <a:ext cx="1612868" cy="649129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800" b="1">
                <a:solidFill>
                  <a:srgbClr val="3D8DF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Reviewer Specialist</a:t>
            </a:r>
            <a:endParaRPr sz="1800" b="1">
              <a:solidFill>
                <a:srgbClr val="3D8DFF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987</Words>
  <Application>WPS 文字</Application>
  <PresentationFormat>Converted Presentation</PresentationFormat>
  <Paragraphs>96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9" baseType="lpstr">
      <vt:lpstr>Arial</vt:lpstr>
      <vt:lpstr>宋体</vt:lpstr>
      <vt:lpstr>Wingdings</vt:lpstr>
      <vt:lpstr>Helvetica Neue</vt:lpstr>
      <vt:lpstr>宋体</vt:lpstr>
      <vt:lpstr>汉仪书宋二KW</vt:lpstr>
      <vt:lpstr>微软雅黑</vt:lpstr>
      <vt:lpstr>汉仪旗黑</vt:lpstr>
      <vt:lpstr>Arial Unicode MS</vt:lpstr>
      <vt:lpstr>Calibri</vt:lpstr>
      <vt:lpstr>Helvetica Neue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漆佳熺</cp:lastModifiedBy>
  <cp:revision>1</cp:revision>
  <dcterms:created xsi:type="dcterms:W3CDTF">2026-08-10T12:28:14Z</dcterms:created>
  <dcterms:modified xsi:type="dcterms:W3CDTF">2026-08-10T12:28:14Z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E027A5EA15A1D64EDEC3796A82429E7F_42</vt:lpwstr>
  </property>
  <property fmtid="{D5CDD505-2E9C-101B-9397-08002B2CF9AE}" pid="3" name="KSOProductBuildVer">
    <vt:lpwstr>2052-12.1.26026.26026</vt:lpwstr>
  </property>
</Properties>
</file>